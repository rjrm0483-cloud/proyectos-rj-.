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Bienvenida. Presentación de nivel senior sobre brexpiprazol dirigida a psiquiatras. Ponente: Dra. Heydi Trujillo.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Recorrido: de los fundamentos farmacológicos a la aplicación clínica práctica del brexpiprazol.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Brexpiprazol = SDAM. Concepto clave: 'estabilizador' del sistema dopamina-serotonina, no un antagonista puro. Sucesor racional del aripiprazol.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Otsuka + Lundbeck. Aprobación FDA 2015 (esquizofrenia y TDM adyuvante). 2023: primer fármaco para agitación en Alzheimer.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Fórmula real C25H27N3O2S, PM ~433.6. Aclarar que la figura es ilustrativa. Farmacóforo: quinolinona + piperazina-benzotiofeno.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Atípico de 2.ª generación. Concepto SDAM. ATC N05AX16. La firma es el agonismo parcial combinado con antagonismo 5-HT2A.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Mecanismo integral SDAM: agonismo parcial D2/D3/5-HT1A + antagonismo 5-HT2A/α. Menor actividad intrínseca D2 que aripiprazol es el diferencial clínico.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tres pilares: agonismo parcial D2/D3, agonismo parcial 5-HT1A, antagonismo 5-HT2A. Concepto de 'sintonización' de circuitos límbico y cortical.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Afinidad subnanomolar/nanomolar en 5-HT1A, D2, 5-HT2A y α1B. Recalcar el equilibrio 5-HT2A&gt;D2 y la fuerte ocupación α que explica el perfil.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ADME: biodisp. ~95%, Tmax 4h, unión &gt;99%, t½ ~91h (estado estable 10-12 días). Metabolismo CYP3A4/2D6. Clave para interacciones y ajuste en metabolizadores lentos.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indicaciones: esquizofrenia, TDM adyuvante y agitación en Alzheimer (2023). Enfatizar que la agitación en demencia mantiene la advertencia de mortalidad.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Fase 3 a 6 semanas: reducción PANSS con 2-4 mg. Mantenimiento: mayor tiempo a recaída. Tolerabilidad motora favorable.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Adyuvante en TDM con respuesta parcial. MADRS mejora frente a placebo. Dosis diana 2 mg. Advertencia de suicidalidad en jóvenes por el contexto antidepresivo.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Aprobación 2023, primera en su clase para agitación en Alzheimer. CMAI mejora. Balance beneficio-riesgo individualizado; mantiene boxed warning de mortalidad.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Trastornos de la conducta: agresividad/impulsividad. Racional SDAM. Solo la agitación en Alzheimer está aprobada; el resto es off-label con evidencia limitada. No aprobado en conducta infanto-juvenil. Complemento de intervenciones psicosociales.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Titulación siempre gradual. Presentaciones 0,25–4 mg. Dosis única diaria. Ajuste en insuficiencia hepática/renal moderada-grave.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Individualizar: rango de dosis amplio, titulación lenta, ajuste por CYP2D6/3A4. La t½ larga da margen frente a olvidos.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Más frecuentes: peso, acatisia (menor que aripiprazol), somnolencia, cefalea. QTc mínimo, prolactina discreta. Menos activación que aripiprazol.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Boxed warning: mortalidad en demencia y suicidalidad en jóvenes. Además SNM, discinesia tardía, metabólico, ortostatismo, impulsividad. Contraindicación: hipersensibilidad.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Interacciones dominadas por CYP3A4/2D6: reducir con inhibidores y en metabolizadores lentos; aumentar con inductores. Ajustar en hepatopatía/nefropatía y ancianos.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Frente a aripiprazol: menor actividad intrínseca D2, menos acatisia/activación, mayor antagonismo 5-HT2A; a cambio, algo más de somnolencia/peso. Elegir según el paciente.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perlas: titulación gradual, monitorización metabólica, interacciones CYP, ventaja de t½ larga, individualización en demencia.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Síntesis: SDAM eficaz y con tolerabilidad motora favorable, tres indicaciones con evidencia, seguridad manejable. Su valor depende de la individualización.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Fuentes primarias: ficha técnica de Rexulti, estudios de Maeda/Citrome/Correll/Thase/Grossberg/Lee y revisiones de Stahl. Referencias formativas.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y agradecimiento. Abrir espacio a preguntas y discusión de casos.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7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.claude/uploads/66fba22f-583e-557b-9ab9-bf088b6d1210/d65bfeec-100020675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5074920"/>
            <a:ext cx="12188952" cy="1783080"/>
          </a:xfrm>
          <a:prstGeom prst="rect">
            <a:avLst/>
          </a:prstGeom>
          <a:solidFill>
            <a:srgbClr val="121736">
              <a:alpha val="88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640080" y="52120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de Actualización Farmacológica en Psiquiatría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640080" y="5596128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Ponente:  </a:t>
            </a:r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Dra. Heydi Trujillo</a:t>
            </a:r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—   Médico Psiquiatra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40080" y="614476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Dirigido a profesionales médicos en Psiquiatría  ·  Agosto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 de la sesión</a:t>
            </a:r>
            <a:endParaRPr lang="en-US" sz="3000" dirty="0"/>
          </a:p>
        </p:txBody>
      </p:sp>
      <p:pic>
        <p:nvPicPr>
          <p:cNvPr id="5" name="Image 0" descr="/root/.claude/uploads/66fba22f-583e-557b-9ab9-bf088b6d1210/fe937a36-100020700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20840" y="1417320"/>
            <a:ext cx="4983480" cy="489204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548640" y="1463040"/>
            <a:ext cx="457200" cy="457200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463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143000" y="141732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Fundamentos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143000" y="1792224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Introducción y contexto clínico   ·   Historia y desarrollo   ·   Estructura y clasificación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48640" y="263347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6334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143000" y="2587752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Farmacología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1143000" y="2962656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 de acción   ·   Farmacodinamia receptorial   ·   Farmacocinética (ADME)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48640" y="3803904"/>
            <a:ext cx="457200" cy="457200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3803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143000" y="375818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Clínica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1143000" y="4133088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Indicaciones y evidencia   ·   Posología y presentaciones   ·   Seguridad e interacciones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48640" y="497433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6"/>
          <p:cNvSpPr/>
          <p:nvPr/>
        </p:nvSpPr>
        <p:spPr>
          <a:xfrm>
            <a:off x="548640" y="497433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1143000" y="4928616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Aplicación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1143000" y="5303520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Posicionamiento terapéutico   ·   Perlas clínicas   ·   Conclusiones y referencias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es el brexpiprazol?</a:t>
            </a:r>
            <a:endParaRPr lang="en-US" sz="3000" dirty="0"/>
          </a:p>
        </p:txBody>
      </p:sp>
      <p:pic>
        <p:nvPicPr>
          <p:cNvPr id="5" name="Image 0" descr="/root/.claude/uploads/66fba22f-583e-557b-9ab9-bf088b6d1210/6ddcd685-1000206757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03720" y="1417320"/>
            <a:ext cx="4800600" cy="489204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48640" y="137160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Antipsicótico atípico de segunda generación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48640" y="1965960"/>
            <a:ext cx="608076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Comercializado como Rexulti®; genérico: brexpiprazole.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Modulador de la actividad serotonina-dopamina (SDAM): estabiliza la neurotransmisión en lugar de bloquearla por completo.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Diseñado como sucesor de segunda generación del aripiprazol, con menor actividad intrínseca dopaminérgica.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diseño: eficacia antipsicótica con mejor tolerabilidad — menos acatisia, activación e inquietud.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 oral, una vez al día, independiente de los alimentos.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Historia y desarrollo</a:t>
            </a:r>
            <a:endParaRPr lang="en-US" sz="3000" dirty="0"/>
          </a:p>
        </p:txBody>
      </p:sp>
      <p:pic>
        <p:nvPicPr>
          <p:cNvPr id="5" name="Image 0" descr="/root/.claude/uploads/66fba22f-583e-557b-9ab9-bf088b6d1210/3e754cf6-1000206756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5029200" cy="484632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5897880" y="1463040"/>
            <a:ext cx="5806440" cy="1024128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80760" y="1572768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Desarrollo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818120" y="1572768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Otsuka Pharmaceutical en colaboración con H. Lundbeck A/S.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897880" y="2670048"/>
            <a:ext cx="5806440" cy="1024128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80760" y="2779776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2015 — FDA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818120" y="2779776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Aprobado (10 jul 2015) para esquizofrenia y como adyuvante en depresión mayor.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897880" y="3877056"/>
            <a:ext cx="5806440" cy="1024128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80760" y="3986784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Expansión global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7818120" y="3986784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Aprobaciones posteriores en Europa, Canadá y Latinoamérica.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897880" y="5084064"/>
            <a:ext cx="5806440" cy="1024128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80760" y="5193792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2023 — Hito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7818120" y="5193792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fármaco aprobado por la FDA para la agitación asociada a la demencia de Alzheimer.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Estructura y propiedades químicas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4160520" cy="493776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sp>
      <p:pic>
        <p:nvPicPr>
          <p:cNvPr id="6" name="Image 0" descr="/root/.claude/uploads/66fba22f-583e-557b-9ab9-bf088b6d1210/a3508162-100020675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691640"/>
            <a:ext cx="3520440" cy="43891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Representación esquemática (ilustrativa)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4983480" y="1600200"/>
            <a:ext cx="67208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químico: 7-[4-[4-(1-benzotiofen-4-il)piperazin-1-il]butoxi]quinolin-2(1H)-ona.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molecular: C25H27N3O2S.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 molecular: ≈ 433,6 g/mol.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quinolinona unido, por una cadena butoxi, a una piperazina con anillo benzotiofeno.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benzotiofeno y la piperazina confieren alta afinidad por receptores D2 y 5-HT.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Polvo blanco a blanquecino, prácticamente insoluble en agua.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Clasificación farmacológica</a:t>
            </a:r>
            <a:endParaRPr lang="en-US" sz="3000" dirty="0"/>
          </a:p>
        </p:txBody>
      </p:sp>
      <p:pic>
        <p:nvPicPr>
          <p:cNvPr id="5" name="Image 0" descr="/root/.claude/uploads/66fba22f-583e-557b-9ab9-bf088b6d1210/5b8ace72-100020675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03720" y="1417320"/>
            <a:ext cx="4800600" cy="489204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548640" y="1463040"/>
            <a:ext cx="6035040" cy="1024128"/>
          </a:xfrm>
          <a:prstGeom prst="roundRect">
            <a:avLst>
              <a:gd name="adj" fmla="val 7143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9808" y="1609344"/>
            <a:ext cx="56327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Grupo</a:t>
            </a:r>
            <a:endParaRPr lang="en-US" sz="1600" dirty="0"/>
          </a:p>
          <a:p>
            <a:pPr algn="l" indent="0" marL="0">
              <a:buNone/>
            </a:pPr>
            <a:r>
              <a:rPr lang="en-US" sz="14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Antipsicótico atípico (segunda generación).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6035040" cy="1024128"/>
          </a:xfrm>
          <a:prstGeom prst="roundRect">
            <a:avLst>
              <a:gd name="adj" fmla="val 7143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2798064"/>
            <a:ext cx="56327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Subclase funcional</a:t>
            </a:r>
            <a:endParaRPr lang="en-US" sz="1600" dirty="0"/>
          </a:p>
          <a:p>
            <a:pPr algn="l" indent="0" marL="0">
              <a:buNone/>
            </a:pPr>
            <a:r>
              <a:rPr lang="en-US" sz="14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Modulador de actividad serotonina-dopamina (SDAM).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48640" y="3840480"/>
            <a:ext cx="6035040" cy="1024128"/>
          </a:xfrm>
          <a:prstGeom prst="roundRect">
            <a:avLst>
              <a:gd name="adj" fmla="val 7143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49808" y="3986784"/>
            <a:ext cx="56327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Clase ATC</a:t>
            </a:r>
            <a:endParaRPr lang="en-US" sz="1600" dirty="0"/>
          </a:p>
          <a:p>
            <a:pPr algn="l" indent="0" marL="0">
              <a:buNone/>
            </a:pPr>
            <a:r>
              <a:rPr lang="en-US" sz="14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N05AX16 — Otros antipsicóticos.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" y="5029200"/>
            <a:ext cx="6035040" cy="1024128"/>
          </a:xfrm>
          <a:prstGeom prst="roundRect">
            <a:avLst>
              <a:gd name="adj" fmla="val 7143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49808" y="5175504"/>
            <a:ext cx="56327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Mecanismo distintivo</a:t>
            </a:r>
            <a:endParaRPr lang="en-US" sz="1600" dirty="0"/>
          </a:p>
          <a:p>
            <a:pPr algn="l" indent="0" marL="0">
              <a:buNone/>
            </a:pPr>
            <a:r>
              <a:rPr lang="en-US" sz="14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Agonismo parcial D2/D3/5-HT1A + antagonismo 5-HT2A.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Mecanismo de acción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635240" y="1371600"/>
            <a:ext cx="4069080" cy="4983480"/>
          </a:xfrm>
          <a:prstGeom prst="roundRect">
            <a:avLst>
              <a:gd name="adj" fmla="val 1124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sp>
      <p:pic>
        <p:nvPicPr>
          <p:cNvPr id="6" name="Image 0" descr="/root/.claude/uploads/66fba22f-583e-557b-9ab9-bf088b6d1210/aa4977e1-100020676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1481328"/>
            <a:ext cx="3703320" cy="4754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1463040"/>
            <a:ext cx="690372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parcial de alta afinidad en receptores D2 y D3: normaliza el tono dopaminérgico — reduce la hiperactividad mesolímbica sin bloqueo excesivo.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parcial 5-HT1A: efecto ansiolítico, antidepresivo y procognitivo; favorece la tolerabilidad motora.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Antagonista potente 5-HT2A: mejora síntomas negativos y reduce el riesgo de síntomas extrapiramidales.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Antagonismo α1B y α2C adrenérgico: modula ánimo y respuesta de estrés.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actividad intrínseca en D2 que el aripiprazol → menos activación, acatisia e inquietud.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7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Farmacodinamia: el modelo de tres pilares</a:t>
            </a:r>
            <a:endParaRPr lang="en-US" sz="3000" dirty="0"/>
          </a:p>
        </p:txBody>
      </p:sp>
      <p:pic>
        <p:nvPicPr>
          <p:cNvPr id="5" name="Image 0" descr="/root/.claude/uploads/66fba22f-583e-557b-9ab9-bf088b6d1210/403a44db-1000206766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1325880"/>
            <a:ext cx="6126480" cy="5532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0" y="1600200"/>
            <a:ext cx="5349240" cy="1325880"/>
          </a:xfrm>
          <a:prstGeom prst="roundRect">
            <a:avLst>
              <a:gd name="adj" fmla="val 4828"/>
            </a:avLst>
          </a:prstGeom>
          <a:solidFill>
            <a:srgbClr val="1E2A57"/>
          </a:solidFill>
          <a:ln w="12700">
            <a:solidFill>
              <a:srgbClr val="3E5FC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0" y="1746504"/>
            <a:ext cx="1691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D2 / D3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275320" y="1728216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Agonismo parcial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Estabiliza la dopamina: antipsicótico sin bloqueo total.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0" y="3108960"/>
            <a:ext cx="5349240" cy="1325880"/>
          </a:xfrm>
          <a:prstGeom prst="roundRect">
            <a:avLst>
              <a:gd name="adj" fmla="val 4828"/>
            </a:avLst>
          </a:prstGeom>
          <a:solidFill>
            <a:srgbClr val="1E2A57"/>
          </a:solidFill>
          <a:ln w="12700">
            <a:solidFill>
              <a:srgbClr val="3E5FC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83680" y="3255264"/>
            <a:ext cx="1691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5-HT1A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275320" y="3236976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Agonismo parcial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Ansiolítico, antidepresivo y neuroprotector motor.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400800" y="4617720"/>
            <a:ext cx="5349240" cy="1325880"/>
          </a:xfrm>
          <a:prstGeom prst="roundRect">
            <a:avLst>
              <a:gd name="adj" fmla="val 4828"/>
            </a:avLst>
          </a:prstGeom>
          <a:solidFill>
            <a:srgbClr val="1E2A57"/>
          </a:solidFill>
          <a:ln w="12700">
            <a:solidFill>
              <a:srgbClr val="3E5FC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83680" y="4764024"/>
            <a:ext cx="1691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5-HT2A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275320" y="4745736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Antagonismo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 síntomas negativos y reduce el riesgo extrapiramidal.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Perfil de afinidad receptorial</a:t>
            </a:r>
            <a:endParaRPr lang="en-US" sz="3000" dirty="0"/>
          </a:p>
        </p:txBody>
      </p:sp>
      <p:pic>
        <p:nvPicPr>
          <p:cNvPr id="5" name="Image 0" descr="/root/.claude/uploads/66fba22f-583e-557b-9ab9-bf088b6d1210/104b64c8-100020676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01000" y="1737360"/>
            <a:ext cx="3703320" cy="379476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548640" y="1554480"/>
            <a:ext cx="2377440" cy="566928"/>
          </a:xfrm>
          <a:prstGeom prst="rect">
            <a:avLst/>
          </a:prstGeom>
          <a:solidFill>
            <a:srgbClr val="1E2761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1554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Receptor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2926080" y="1554480"/>
            <a:ext cx="1737360" cy="566928"/>
          </a:xfrm>
          <a:prstGeom prst="rect">
            <a:avLst/>
          </a:prstGeom>
          <a:solidFill>
            <a:srgbClr val="1E2761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017520" y="155448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 (nM)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663440" y="1554480"/>
            <a:ext cx="2743200" cy="566928"/>
          </a:xfrm>
          <a:prstGeom prst="rect">
            <a:avLst/>
          </a:prstGeom>
          <a:solidFill>
            <a:srgbClr val="1E2761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54880" y="155448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Acción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48640" y="2121408"/>
            <a:ext cx="2377440" cy="566928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212140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5-HT1A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2926080" y="2121408"/>
            <a:ext cx="1737360" cy="566928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017520" y="212140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0,12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663440" y="2121408"/>
            <a:ext cx="2743200" cy="566928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754880" y="212140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parcial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48640" y="2688336"/>
            <a:ext cx="23774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268833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2926080" y="2688336"/>
            <a:ext cx="17373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017520" y="2688336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0,30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663440" y="2688336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754880" y="2688336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parcial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48640" y="3255264"/>
            <a:ext cx="2377440" cy="566928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080" y="3255264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2926080" y="3255264"/>
            <a:ext cx="1737360" cy="566928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017520" y="3255264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1,10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663440" y="3255264"/>
            <a:ext cx="2743200" cy="566928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754880" y="3255264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parcial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48640" y="3822192"/>
            <a:ext cx="23774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40080" y="382219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5-HT2A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2926080" y="3822192"/>
            <a:ext cx="17373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3017520" y="3822192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0,47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4663440" y="3822192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754880" y="3822192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Antagonista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548640" y="4389120"/>
            <a:ext cx="2377440" cy="566928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40080" y="43891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α1B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2926080" y="4389120"/>
            <a:ext cx="1737360" cy="566928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3017520" y="438912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0,17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4663440" y="4389120"/>
            <a:ext cx="2743200" cy="566928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754880" y="438912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Antagonista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548640" y="4956048"/>
            <a:ext cx="23774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40080" y="495604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α2C</a:t>
            </a:r>
            <a:endParaRPr lang="en-US" sz="1300" dirty="0"/>
          </a:p>
        </p:txBody>
      </p:sp>
      <p:sp>
        <p:nvSpPr>
          <p:cNvPr id="44" name="Shape 41"/>
          <p:cNvSpPr/>
          <p:nvPr/>
        </p:nvSpPr>
        <p:spPr>
          <a:xfrm>
            <a:off x="2926080" y="4956048"/>
            <a:ext cx="17373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3017520" y="495604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0,59</a:t>
            </a:r>
            <a:endParaRPr lang="en-US" sz="1300" dirty="0"/>
          </a:p>
        </p:txBody>
      </p:sp>
      <p:sp>
        <p:nvSpPr>
          <p:cNvPr id="46" name="Shape 43"/>
          <p:cNvSpPr/>
          <p:nvPr/>
        </p:nvSpPr>
        <p:spPr>
          <a:xfrm>
            <a:off x="4663440" y="4956048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754880" y="495604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Antagonista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548640" y="5806440"/>
            <a:ext cx="7223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de Ki aproximados; afinidad subnanomolar en los sitios clave. Menor Ki = mayor afinidad.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Farmacocinética (ADME)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55448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≈95%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Biodisponibilidad oral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64992" y="14173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64992" y="155448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h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456432" y="22860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Tmax plasmático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81344" y="14173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181344" y="155448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&gt;99%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272784" y="22860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Unión a proteínas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97696" y="14173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997696" y="155448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≈91 h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089136" y="22860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Semivida de eliminación</a:t>
            </a:r>
            <a:endParaRPr lang="en-US" sz="1200" dirty="0"/>
          </a:p>
        </p:txBody>
      </p:sp>
      <p:pic>
        <p:nvPicPr>
          <p:cNvPr id="17" name="Image 0" descr="/root/.claude/uploads/66fba22f-583e-557b-9ab9-bf088b6d1210/03076ebf-100020686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38160" y="3246120"/>
            <a:ext cx="3566160" cy="306324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18" name="Text 15"/>
          <p:cNvSpPr/>
          <p:nvPr/>
        </p:nvSpPr>
        <p:spPr>
          <a:xfrm>
            <a:off x="548640" y="3108960"/>
            <a:ext cx="73609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Absorción: buena por vía oral; sin efecto clínicamente relevante de los alimentos.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Distribución: amplia; unión a albúmina y α1-glicoproteína ácida &gt;99%.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Metabolismo: hepático por CYP3A4 y CYP2D6 → metabolito DM-3411 (sin contribución clínica relevante).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estacionario en 10–12 días; semivida larga que permite dosis única diaria.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Eliminación: heces ≈46%, orina ≈25%.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Indicaciones aprobadas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680960" y="1371600"/>
            <a:ext cx="4023360" cy="4983480"/>
          </a:xfrm>
          <a:prstGeom prst="roundRect">
            <a:avLst>
              <a:gd name="adj" fmla="val 1136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sp>
      <p:pic>
        <p:nvPicPr>
          <p:cNvPr id="6" name="Image 0" descr="/root/.claude/uploads/66fba22f-583e-557b-9ab9-bf088b6d1210/8bdd1850-100020676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63840" y="1572768"/>
            <a:ext cx="3657600" cy="45720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508760"/>
            <a:ext cx="640080" cy="640080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1508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371600" y="1463040"/>
            <a:ext cx="6126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Esquizofrenia</a:t>
            </a:r>
            <a:endParaRPr lang="en-US" sz="1900" dirty="0"/>
          </a:p>
          <a:p>
            <a:pPr indent="0" marL="0">
              <a:buNone/>
            </a:pPr>
            <a:r>
              <a:rPr lang="en-US" sz="14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Monoterapia en adultos; también estudiada para el mantenimiento a largo plazo.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548640" y="3081528"/>
            <a:ext cx="640080" cy="640080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8152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71600" y="3035808"/>
            <a:ext cx="6126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Depresión mayor (TDM)</a:t>
            </a:r>
            <a:endParaRPr lang="en-US" sz="1900" dirty="0"/>
          </a:p>
          <a:p>
            <a:pPr indent="0" marL="0">
              <a:buNone/>
            </a:pPr>
            <a:r>
              <a:rPr lang="en-US" sz="14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Tratamiento adyuvante a antidepresivos en respuesta inadecuada.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548640" y="4654296"/>
            <a:ext cx="640080" cy="64008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4" name="Text 11"/>
          <p:cNvSpPr/>
          <p:nvPr/>
        </p:nvSpPr>
        <p:spPr>
          <a:xfrm>
            <a:off x="548640" y="4654296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371600" y="4608576"/>
            <a:ext cx="6126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Agitación en Alzheimer</a:t>
            </a:r>
            <a:endParaRPr lang="en-US" sz="1900" dirty="0"/>
          </a:p>
          <a:p>
            <a:pPr indent="0" marL="0">
              <a:buNone/>
            </a:pPr>
            <a:r>
              <a:rPr lang="en-US" sz="14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Agitación asociada a la demencia de Alzheimer (aprobación FDA 2023).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Esquizofrenia: evidencia clínica</a:t>
            </a:r>
            <a:endParaRPr lang="en-US" sz="3000" dirty="0"/>
          </a:p>
        </p:txBody>
      </p:sp>
      <p:pic>
        <p:nvPicPr>
          <p:cNvPr id="5" name="Image 0" descr="/root/.claude/uploads/66fba22f-583e-557b-9ab9-bf088b6d1210/90f42778-100020686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1463040"/>
            <a:ext cx="3886200" cy="379476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48640" y="1508760"/>
            <a:ext cx="70866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Ensayos pivotales de fase 3 (p. ej. VECTOR y BEACON), doble ciego y controlados con placebo, a 6 semanas.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significativa de la puntuación total PANSS con 2–4 mg/día frente a placebo.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Mejoría también en la escala CGI-S de gravedad global.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Estudios de mantenimiento: prolongación significativa del tiempo hasta la recaída.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 incidencia de acatisia y buen perfil de tolerabilidad a largo plazo.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48640" y="50749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2–4 mg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548640" y="586130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Dosis eficaz/día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2971800" y="50749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sem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2971800" y="586130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Ensayos pivotales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394960" y="50749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↓ PANSS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5394960" y="586130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Desenlace primario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Depresión mayor: terapia adyuvante</a:t>
            </a:r>
            <a:endParaRPr lang="en-US" sz="3000" dirty="0"/>
          </a:p>
        </p:txBody>
      </p:sp>
      <p:pic>
        <p:nvPicPr>
          <p:cNvPr id="5" name="Image 0" descr="/root/.claude/uploads/66fba22f-583e-557b-9ab9-bf088b6d1210/8e707161-100020701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4892040" cy="484632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715000" y="1508760"/>
            <a:ext cx="59893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 como complemento del antidepresivo cuando la respuesta es inadecuada.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Ensayos pivotales (PYXIS/POLARIS): reducción significativa de la escala MADRS frente a antidepresivo + placebo.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Dosis objetivo habitual: 2 mg/día (rango 1–3 mg).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 sobre síntomas depresivos residuales con inicio de acción en las primeras semanas.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Vigilar acatisia, aumento de peso y somnolencia como efectos más frecuentes en este contexto.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715000" y="52578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+ADT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715000" y="6044184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Adyuvante, no monoterapia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732520" y="52578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1–3 mg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8732520" y="6044184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Rango de dosis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Agitación en la demencia de Alzheimer</a:t>
            </a:r>
            <a:endParaRPr lang="en-US" sz="3000" dirty="0"/>
          </a:p>
        </p:txBody>
      </p:sp>
      <p:pic>
        <p:nvPicPr>
          <p:cNvPr id="5" name="Image 0" descr="/root/.claude/uploads/66fba22f-583e-557b-9ab9-bf088b6d1210/74db021a-100020701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1463040"/>
            <a:ext cx="3886200" cy="384048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48640" y="1417320"/>
            <a:ext cx="7086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Primer y único fármaco con indicación aprobada por la FDA (2023) para esta condición.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548640" y="2011680"/>
            <a:ext cx="708660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ensayos de fase 3: reducción significativa del Cohen-Mansfield Agitation Inventory (CMAI).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Dosis objetivo de 2–3 mg/día tras titulación gradual.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Aborda una necesidad no cubierta: la agitación es de las manifestaciones más angustiantes de la demencia.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9A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 la advertencia enmarcada de mayor mortalidad en ancianos con psicosis por demencia.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48640" y="539496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CMAI ↓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48640" y="618134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Desenlace primario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023360" y="539496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2–3 mg</a:t>
            </a:r>
            <a:endParaRPr lang="en-US" sz="3200" dirty="0"/>
          </a:p>
        </p:txBody>
      </p:sp>
      <p:sp>
        <p:nvSpPr>
          <p:cNvPr id="11" name="Text 8"/>
          <p:cNvSpPr/>
          <p:nvPr/>
        </p:nvSpPr>
        <p:spPr>
          <a:xfrm>
            <a:off x="4023360" y="618134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Dosis diana/día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Brexpiprazol y los trastornos de la conducta</a:t>
            </a:r>
            <a:endParaRPr lang="en-US" sz="3000" dirty="0"/>
          </a:p>
        </p:txBody>
      </p:sp>
      <p:pic>
        <p:nvPicPr>
          <p:cNvPr id="5" name="Image 0" descr="/root/.claude/uploads/66fba22f-583e-557b-9ab9-bf088b6d1210/d425260d-1000207007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1463040"/>
            <a:ext cx="3886200" cy="384048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48640" y="1508760"/>
            <a:ext cx="70866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trastornos de la conducta agrupan patrones persistentes de agresividad, impulsividad y transgresión de normas sociales.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paciente psiquiátrico y en la demencia se expresan como agitación, hostilidad y conducta disruptiva.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Racional SDAM: el equilibrio dopamina-serotonina (agonismo parcial D2/5-HT1A + antagonismo 5-HT2A) atenúa la impulsividad y la agresividad.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 aprobada limitada a la agitación en la demencia de Alzheimer; otros usos conductuales son off-label y con evidencia emergente.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aprobado en el trastorno de conducta de niños y adolescentes; requiere valoración especializada.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5440680"/>
            <a:ext cx="7086600" cy="868680"/>
          </a:xfrm>
          <a:prstGeom prst="roundRect">
            <a:avLst>
              <a:gd name="adj" fmla="val 8421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586984"/>
            <a:ext cx="6684264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Principio de uso</a:t>
            </a:r>
            <a:endParaRPr lang="en-US" sz="14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Siempre como complemento de las intervenciones psicosociales de primera línea, iniciando a dosis bajas y con monitorización estrecha.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Posología y administración</a:t>
            </a:r>
            <a:endParaRPr lang="en-US" sz="3000" dirty="0"/>
          </a:p>
        </p:txBody>
      </p:sp>
      <p:pic>
        <p:nvPicPr>
          <p:cNvPr id="5" name="Image 0" descr="/root/.claude/uploads/66fba22f-583e-557b-9ab9-bf088b6d1210/ec29a529-1000206767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0" y="1463040"/>
            <a:ext cx="3931920" cy="374904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548640" y="1554480"/>
            <a:ext cx="2331720" cy="621792"/>
          </a:xfrm>
          <a:prstGeom prst="rect">
            <a:avLst/>
          </a:prstGeom>
          <a:solidFill>
            <a:srgbClr val="1E2761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21792" y="1554480"/>
            <a:ext cx="21854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Indicación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2880360" y="1554480"/>
            <a:ext cx="1783080" cy="621792"/>
          </a:xfrm>
          <a:prstGeom prst="rect">
            <a:avLst/>
          </a:prstGeom>
          <a:solidFill>
            <a:srgbClr val="1E2761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953512" y="1554480"/>
            <a:ext cx="163677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Inicio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663440" y="1554480"/>
            <a:ext cx="1417320" cy="621792"/>
          </a:xfrm>
          <a:prstGeom prst="rect">
            <a:avLst/>
          </a:prstGeom>
          <a:solidFill>
            <a:srgbClr val="1E2761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36592" y="1554480"/>
            <a:ext cx="1271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080760" y="1554480"/>
            <a:ext cx="1188720" cy="621792"/>
          </a:xfrm>
          <a:prstGeom prst="rect">
            <a:avLst/>
          </a:prstGeom>
          <a:solidFill>
            <a:srgbClr val="1E2761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153912" y="1554480"/>
            <a:ext cx="10424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Máx.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48640" y="2176272"/>
            <a:ext cx="2331720" cy="621792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" y="2176272"/>
            <a:ext cx="21854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Esquizofrenia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2880360" y="2176272"/>
            <a:ext cx="1783080" cy="621792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953512" y="2176272"/>
            <a:ext cx="163677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mg (días 1–4)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4663440" y="2176272"/>
            <a:ext cx="1417320" cy="621792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736592" y="2176272"/>
            <a:ext cx="1271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2–4 mg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080760" y="2176272"/>
            <a:ext cx="1188720" cy="621792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153912" y="2176272"/>
            <a:ext cx="10424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mg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48640" y="2798064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21792" y="2798064"/>
            <a:ext cx="21854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TDM (adyuvante)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2880360" y="2798064"/>
            <a:ext cx="17830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953512" y="2798064"/>
            <a:ext cx="163677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0,5–1 mg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4663440" y="2798064"/>
            <a:ext cx="14173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736592" y="2798064"/>
            <a:ext cx="1271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mg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6080760" y="2798064"/>
            <a:ext cx="1188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153912" y="2798064"/>
            <a:ext cx="10424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mg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548640" y="3419856"/>
            <a:ext cx="2331720" cy="621792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21792" y="3419856"/>
            <a:ext cx="21854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Agitación/Alzheimer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2880360" y="3419856"/>
            <a:ext cx="1783080" cy="621792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2953512" y="3419856"/>
            <a:ext cx="163677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 mg (1.ª sem.)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4663440" y="3419856"/>
            <a:ext cx="1417320" cy="621792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736592" y="3419856"/>
            <a:ext cx="1271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mg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6080760" y="3419856"/>
            <a:ext cx="1188720" cy="621792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153912" y="3419856"/>
            <a:ext cx="10424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mg</a:t>
            </a:r>
            <a:endParaRPr lang="en-US" sz="1250" dirty="0"/>
          </a:p>
        </p:txBody>
      </p:sp>
      <p:sp>
        <p:nvSpPr>
          <p:cNvPr id="38" name="Text 35"/>
          <p:cNvSpPr/>
          <p:nvPr/>
        </p:nvSpPr>
        <p:spPr>
          <a:xfrm>
            <a:off x="548640" y="4251960"/>
            <a:ext cx="69494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toma diaria, con o sin alimentos; titulación gradual para minimizar la acatisia.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Comprimidos: 0,25 · 0,5 · 1 · 2 · 3 · 4 mg.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Reducir dosis en insuficiencia hepática o renal moderada-grave.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Titulación e individualización</a:t>
            </a:r>
            <a:endParaRPr lang="en-US" sz="3000" dirty="0"/>
          </a:p>
        </p:txBody>
      </p:sp>
      <p:pic>
        <p:nvPicPr>
          <p:cNvPr id="5" name="Image 0" descr="/root/.claude/uploads/66fba22f-583e-557b-9ab9-bf088b6d1210/9c748f5c-1000206768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66560" y="1463040"/>
            <a:ext cx="4937760" cy="484632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48640" y="1554480"/>
            <a:ext cx="59893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Amplio abanico de concentraciones (0,25–4 mg) que facilita una titulación fina y personalizada.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Escalar despacio reduce la incidencia de acatisia e inquietud al inicio del tratamiento.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por farmacogenética: en metabolizadores lentos del CYP2D6, reducir la dosis a la mitad.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inhibidores potentes de CYP3A4 o CYP2D6, reducir la dosis; con inductores de CYP3A4, aumentarla.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semivida larga favorece la adherencia y amortigua el impacto de una toma olvidada.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Reacciones adversas</a:t>
            </a:r>
            <a:endParaRPr lang="en-US" sz="3000" dirty="0"/>
          </a:p>
        </p:txBody>
      </p:sp>
      <p:pic>
        <p:nvPicPr>
          <p:cNvPr id="5" name="Image 0" descr="/root/.claude/uploads/66fba22f-583e-557b-9ab9-bf088b6d1210/e8ac2a16-100020675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63840" y="1508760"/>
            <a:ext cx="3840480" cy="329184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548640" y="1508760"/>
            <a:ext cx="7086600" cy="804672"/>
          </a:xfrm>
          <a:prstGeom prst="roundRect">
            <a:avLst>
              <a:gd name="adj" fmla="val 9091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9808" y="1655064"/>
            <a:ext cx="6684264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Aumento de peso</a:t>
            </a:r>
            <a:endParaRPr lang="en-US" sz="14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Frecuente; vigilar parámetros metabólicos.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548640" y="2441448"/>
            <a:ext cx="7086600" cy="804672"/>
          </a:xfrm>
          <a:prstGeom prst="roundRect">
            <a:avLst>
              <a:gd name="adj" fmla="val 9091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2587752"/>
            <a:ext cx="6684264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Acatisia</a:t>
            </a:r>
            <a:endParaRPr lang="en-US" sz="14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Dosis-dependiente; menor que con aripiprazol.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548640" y="3374136"/>
            <a:ext cx="7086600" cy="804672"/>
          </a:xfrm>
          <a:prstGeom prst="roundRect">
            <a:avLst>
              <a:gd name="adj" fmla="val 9091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49808" y="3520440"/>
            <a:ext cx="6684264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Somnolencia</a:t>
            </a:r>
            <a:endParaRPr lang="en-US" sz="14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Habitual al inicio; suele atenuarse.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48640" y="4306824"/>
            <a:ext cx="7086600" cy="804672"/>
          </a:xfrm>
          <a:prstGeom prst="roundRect">
            <a:avLst>
              <a:gd name="adj" fmla="val 9091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49808" y="4453128"/>
            <a:ext cx="6684264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Cefalea / nasofaringitis</a:t>
            </a:r>
            <a:endParaRPr lang="en-US" sz="14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Leves y transitorias.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863840" y="4983480"/>
            <a:ext cx="3840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Perfil metabólico y cardiovascular</a:t>
            </a:r>
            <a:endParaRPr lang="en-US" sz="1350" dirty="0"/>
          </a:p>
          <a:p>
            <a:pPr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Efecto moderado sobre peso y lípidos; elevación discreta de prolactina; impacto mínimo sobre el intervalo QTc. Menor activación/insomnio que el aripiprazol.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217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Advertencias y contraindicaciones</a:t>
            </a:r>
            <a:endParaRPr lang="en-US" sz="3000" dirty="0"/>
          </a:p>
        </p:txBody>
      </p:sp>
      <p:pic>
        <p:nvPicPr>
          <p:cNvPr id="5" name="Image 0" descr="/root/.claude/uploads/66fba22f-583e-557b-9ab9-bf088b6d1210/b72ff5ad-1000206758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01000" y="1371600"/>
            <a:ext cx="4187952" cy="5486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17320"/>
            <a:ext cx="7178040" cy="1234440"/>
          </a:xfrm>
          <a:prstGeom prst="roundRect">
            <a:avLst>
              <a:gd name="adj" fmla="val 5185"/>
            </a:avLst>
          </a:prstGeom>
          <a:solidFill>
            <a:srgbClr val="5A1712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1536192"/>
            <a:ext cx="6720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ADVERTENCIA ENMARCADA (BOXED WARNING)</a:t>
            </a:r>
            <a:endParaRPr lang="en-US" sz="135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 mortalidad en ancianos con psicosis por demencia. Riesgo de ideación/conducta suicida en jóvenes tratados con antidepresivos.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548640" y="2880360"/>
            <a:ext cx="7178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Síndrome neuroléptico maligno y discinesia tardía.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Alteraciones metabólicas: hiperglucemia, dislipidemia, aumento de peso.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Hipotensión ortostática, leucopenia/neutropenia, convulsiones y disfagia.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Trastornos del control de impulsos (p. ej. ludopatía) y disregulación térmica.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Contraindicado ante hipersensibilidad conocida al brexpiprazol.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Interacciones y poblaciones especiales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Interacciones farmacológicas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87452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2020824"/>
            <a:ext cx="5038344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Inhibidores CYP3A4/CYP2D6</a:t>
            </a:r>
            <a:endParaRPr lang="en-US" sz="140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Reducir la dosis (a la mitad con inhibidores potentes).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29184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3438144"/>
            <a:ext cx="5038344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Inductores de CYP3A4</a:t>
            </a:r>
            <a:endParaRPr lang="en-US" sz="140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Aumentar la dosis (hasta duplicarla).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470916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4855464"/>
            <a:ext cx="5038344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Metabolizadores lentos CYP2D6</a:t>
            </a:r>
            <a:endParaRPr lang="en-US" sz="140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Reducir la dosis por mayor exposición.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17920" y="1417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Poblaciones especiales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0" y="187452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19088" y="2020824"/>
            <a:ext cx="5038344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Hepática/renal moderada-grave</a:t>
            </a:r>
            <a:endParaRPr lang="en-US" sz="140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y reducir la dosis máxima.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17920" y="329184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19088" y="3438144"/>
            <a:ext cx="5038344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Embarazo y lactancia</a:t>
            </a:r>
            <a:endParaRPr lang="en-US" sz="140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Valorar riesgo-beneficio; datos limitados.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217920" y="470916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19088" y="4855464"/>
            <a:ext cx="5038344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Ancianos</a:t>
            </a:r>
            <a:endParaRPr lang="en-US" sz="140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Iniciar bajo y titular con precaución.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Posicionamiento: brexpiprazol vs aripiprazol</a:t>
            </a:r>
            <a:endParaRPr lang="en-US" sz="3000" dirty="0"/>
          </a:p>
        </p:txBody>
      </p:sp>
      <p:pic>
        <p:nvPicPr>
          <p:cNvPr id="5" name="Image 0" descr="/root/.claude/uploads/66fba22f-583e-557b-9ab9-bf088b6d1210/918debf7-100020676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0" y="1554480"/>
            <a:ext cx="3931920" cy="333756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548640" y="1554480"/>
            <a:ext cx="2606040" cy="603504"/>
          </a:xfrm>
          <a:prstGeom prst="rect">
            <a:avLst/>
          </a:prstGeom>
          <a:solidFill>
            <a:srgbClr val="1E2761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21792" y="1554480"/>
            <a:ext cx="24597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Atributo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154680" y="1554480"/>
            <a:ext cx="2148840" cy="603504"/>
          </a:xfrm>
          <a:prstGeom prst="rect">
            <a:avLst/>
          </a:prstGeom>
          <a:solidFill>
            <a:srgbClr val="1E2761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27832" y="1554480"/>
            <a:ext cx="20025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Brexpiprazol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303520" y="1554480"/>
            <a:ext cx="2148840" cy="603504"/>
          </a:xfrm>
          <a:prstGeom prst="rect">
            <a:avLst/>
          </a:prstGeom>
          <a:solidFill>
            <a:srgbClr val="1E2761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376672" y="1554480"/>
            <a:ext cx="20025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Aripiprazol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48640" y="2157984"/>
            <a:ext cx="2606040" cy="603504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1792" y="2157984"/>
            <a:ext cx="24597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 intrínseca D2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154680" y="2157984"/>
            <a:ext cx="2148840" cy="603504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227832" y="2157984"/>
            <a:ext cx="20025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303520" y="2157984"/>
            <a:ext cx="2148840" cy="603504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376672" y="2157984"/>
            <a:ext cx="20025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48640" y="2761488"/>
            <a:ext cx="2606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1792" y="2761488"/>
            <a:ext cx="24597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Acatisia / activación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3154680" y="2761488"/>
            <a:ext cx="21488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227832" y="2761488"/>
            <a:ext cx="20025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303520" y="2761488"/>
            <a:ext cx="21488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376672" y="2761488"/>
            <a:ext cx="20025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548640" y="3364992"/>
            <a:ext cx="2606040" cy="603504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21792" y="3364992"/>
            <a:ext cx="24597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Antagonismo 5-HT2A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3154680" y="3364992"/>
            <a:ext cx="2148840" cy="603504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227832" y="3364992"/>
            <a:ext cx="20025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potente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303520" y="3364992"/>
            <a:ext cx="2148840" cy="603504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376672" y="3364992"/>
            <a:ext cx="20025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548640" y="3968496"/>
            <a:ext cx="2606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21792" y="3968496"/>
            <a:ext cx="24597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Somnolencia / peso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3154680" y="3968496"/>
            <a:ext cx="21488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3227832" y="3968496"/>
            <a:ext cx="20025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 mayor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5303520" y="3968496"/>
            <a:ext cx="21488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376672" y="3968496"/>
            <a:ext cx="20025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</a:t>
            </a:r>
            <a:endParaRPr lang="en-US" sz="1250" dirty="0"/>
          </a:p>
        </p:txBody>
      </p:sp>
      <p:sp>
        <p:nvSpPr>
          <p:cNvPr id="36" name="Text 33"/>
          <p:cNvSpPr/>
          <p:nvPr/>
        </p:nvSpPr>
        <p:spPr>
          <a:xfrm>
            <a:off x="548640" y="5074920"/>
            <a:ext cx="6949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Idea clave:  </a:t>
            </a:r>
            <a:pPr indent="0" marL="0">
              <a:buNone/>
            </a:pPr>
            <a:r>
              <a:rPr lang="en-US" sz="14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menor actividad intrínseca D2 hace del brexpiprazol una opción con perfil de tolerabilidad motora más favorable, útil en pacientes sensibles a la acatisia o la activación.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Perlas clínicas para la práctica</a:t>
            </a:r>
            <a:endParaRPr lang="en-US" sz="3000" dirty="0"/>
          </a:p>
        </p:txBody>
      </p:sp>
      <p:pic>
        <p:nvPicPr>
          <p:cNvPr id="5" name="Image 0" descr="/root/.claude/uploads/66fba22f-583e-557b-9ab9-bf088b6d1210/ac2a47e1-1000207008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1463040"/>
            <a:ext cx="3886200" cy="384048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548640" y="1508760"/>
            <a:ext cx="502920" cy="502920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188720" y="1463040"/>
            <a:ext cx="6355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Titular siempre de forma gradual: es la mejor estrategia frente a la acatisia inicial.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48640" y="2441448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244144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188720" y="2395728"/>
            <a:ext cx="6355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Monitorizar peso, glucemia y lípidos al inicio y periódicamente.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48640" y="3374136"/>
            <a:ext cx="502920" cy="502920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337413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188720" y="3328416"/>
            <a:ext cx="6355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el perfil farmacogenético/interacciones (CYP2D6 y CYP3A4) antes de fijar la dosis.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48640" y="4306824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3"/>
          <p:cNvSpPr/>
          <p:nvPr/>
        </p:nvSpPr>
        <p:spPr>
          <a:xfrm>
            <a:off x="548640" y="430682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188720" y="4261104"/>
            <a:ext cx="6355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semivida larga aporta estabilidad plasmática y tolera bien los olvidos ocasionales.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48640" y="5239512"/>
            <a:ext cx="502920" cy="502920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19" name="Text 16"/>
          <p:cNvSpPr/>
          <p:nvPr/>
        </p:nvSpPr>
        <p:spPr>
          <a:xfrm>
            <a:off x="548640" y="52395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6355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agitación por demencia, individualizar y reevaluar el balance beneficio-riesgo.</a:t>
            </a:r>
            <a:endParaRPr lang="en-US" sz="14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217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.claude/uploads/66fba22f-583e-557b-9ab9-bf088b6d1210/104b64c8-100020676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955280" y="0"/>
            <a:ext cx="423367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955280" y="0"/>
            <a:ext cx="4233672" cy="6858000"/>
          </a:xfrm>
          <a:prstGeom prst="rect">
            <a:avLst/>
          </a:prstGeom>
          <a:solidFill>
            <a:srgbClr val="121736">
              <a:alpha val="6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640080" y="640080"/>
            <a:ext cx="6949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Conclusión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640080" y="1691640"/>
            <a:ext cx="690372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brexpiprazol es un antipsicótico atípico de nueva generación (SDAM) que estabiliza los sistemas dopaminérgico y serotoninérgico.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menor actividad intrínseca D2 se traduce en eficacia antipsicótica con menor acatisia y activación.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 con evidencia sólida en esquizofrenia, como adyuvante en depresión mayor y, desde 2023, en la agitación por Alzheimer.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de seguridad manejable con titulación gradual y monitorización metabólica adecuada.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 valiosa cuando se selecciona e individualiza correctamente al paciente.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Referencias bibliográficas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5321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Otsuka America Pharmaceutical. Rexulti® (brexpiprazol): Información de prescripción (Prescribing Information). 2023.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Maeda K, et al. Brexpiprazole I: In vitro and in vivo characterization of a novel serotonin-dopamine activity modulator. J Pharmacol Exp Ther. 2014;350(3):589–604.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Citrome L. Brexpiprazole: a new dopamine–serotonin system stabilizer. Int J Clin Pract. 2015;69(9):978–997.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Correll CU, et al. Efficacy and safety of brexpiprazole for the treatment of schizophrenia. Am J Psychiatry. 2015;172(9):870–880.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Kane JM, et al. A multicenter, randomized, double-blind trial of brexpiprazole in schizophrenia. Schizophr Res. 2015;164(1–3):127–135.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355080" y="1463040"/>
            <a:ext cx="55321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Thase ME, et al. Adjunctive brexpiprazole in major depressive disorder (PYXIS/POLARIS). J Clin Psychiatry. 2015;76(9):1224–1231.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 Grossberg GT, et al. Brexpiprazole for agitation associated with Alzheimer's dementia: phase 3 trial. Am J Geriatr Psychiatry. 2020;28(4):383–400.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 Lee D, et al. Brexpiprazole for the treatment of agitation in Alzheimer dementia. JAMA Neurol. 2023;80(12):1307–1316.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 Stahl SM. Mechanism of action of brexpiprazole: comparison with aripiprazole. CNS Spectr. 2016;21(1):1–6.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 U.S. FDA. Approval of Rexulti for agitation associated with dementia due to Alzheimer's disease. 2023.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217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.claude/uploads/66fba22f-583e-557b-9ab9-bf088b6d1210/2084e854-100020675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21736">
              <a:alpha val="7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228600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¡Gracias por su atención!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731520" y="33832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y discusión clínica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480560" y="4206240"/>
            <a:ext cx="3227832" cy="18288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44348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Dra. Heydi Trujillo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 Psiquiatra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2026-08-06T19:16:25Z</dcterms:created>
  <dcterms:modified xsi:type="dcterms:W3CDTF">2026-08-06T19:16:25Z</dcterms:modified>
</cp:coreProperties>
</file>