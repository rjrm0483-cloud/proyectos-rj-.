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Presentación de nivel senior sobre brexpiprazol dirigida a psiquiatras. Ponente: Dra. Heydi Trujillo.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Recorrido: de los fundamentos farmacológicos a la aplicación clínica práctica del brexpiprazol.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Brexpiprazol = SDAM. Concepto clave: 'estabilizador' del sistema dopamina-serotonina, no un antagonista puro. Sucesor racional del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Otsuka + Lundbeck. Aprobación FDA 2015 (esquizofrenia y TDM adyuvante). 2023: primer fármaco para agitación en Alzheimer.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Fórmula real C25H27N3O2S, PM ~433.6. Aclarar que la figura es ilustrativa. Farmacóforo: quinolinona + piperazina-benzotiofeno.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Atípico de 2.ª generación. Concepto SDAM. ATC N05AX16. La firma es el agonismo parcial combinado con antagonismo 5-HT2A.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Mecanismo integral SDAM: agonismo parcial D2/D3/5-HT1A + antagonismo 5-HT2A/α. Menor actividad intrínseca D2 que aripiprazol es el diferencial clínico.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pilares: agonismo parcial D2/D3, agonismo parcial 5-HT1A, antagonismo 5-HT2A. Concepto de 'sintonización' de circuitos límbico y cortical.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Afinidad subnanomolar/nanomolar en 5-HT1A, D2, 5-HT2A y α1B. Recalcar el equilibrio 5-HT2A&gt;D2 y la fuerte ocupación α que explica el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ADME: biodisp. ~95%, Tmax 4h, unión &gt;99%, t½ ~91h (estado estable 10-12 días). Metabolismo CYP3A4/2D6. Clave para interacciones y ajuste en metabolizadores lentos.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indicaciones: esquizofrenia, TDM adyuvante y agitación en Alzheimer (2023). Enfatizar que la agitación en demencia mantiene la advertencia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3 a 6 semanas: reducción PANSS con 2-4 mg. Mantenimiento: mayor tiempo a recaída. Tolerabilidad motora favorable.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Adyuvante en TDM con respuesta parcial. MADRS mejora frente a placebo. Dosis diana 2 mg. Advertencia de suicidalidad en jóvenes por el contexto antidepresivo.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Aprobación 2023, primera en su clase para agitación en Alzheimer. CMAI mejora. Balance beneficio-riesgo individualizado; mantiene boxed warning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Trastornos de la conducta: agresividad/impulsividad. Racional SDAM. Solo la agitación en Alzheimer está aprobada; el resto es off-label con evidencia limitada. No aprobado en conducta infanto-juvenil. Complemento de intervenciones psicosociales.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Titulación siempre gradual. Presentaciones 0,25–4 mg. Dosis única diaria. Ajuste en insuficiencia hepática/renal moderada-grave.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Individualizar: rango de dosis amplio, titulación lenta, ajuste por CYP2D6/3A4. La t½ larga da margen frente a olvidos.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Más frecuentes: peso, acatisia (menor que aripiprazol), somnolencia, cefalea. QTc mínimo, prolactina discreta. Menos activación que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Boxed warning: mortalidad en demencia y suicidalidad en jóvenes. Además SNM, discinesia tardía, metabólico, ortostatismo, impulsividad. Contraindicación: hipersensibilidad.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Interacciones dominadas por CYP3A4/2D6: reducir con inhibidores y en metabolizadores lentos; aumentar con inductores. Ajustar en hepatopatía/nefropatía y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 a aripiprazol: menor actividad intrínseca D2, menos acatisia/activación, mayor antagonismo 5-HT2A; a cambio, algo más de somnolencia/peso. Elegir según el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perlas: titulación gradual, monitorización metabólica, interacciones CYP, ventaja de t½ larga, individualización en demencia.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Síntesis: SDAM eficaz y con tolerabilidad motora favorable, tres indicaciones con evidencia, seguridad manejable. Su valor depende de la individualización.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primarias: ficha técnica de Rexulti, estudios de Maeda/Citrome/Correll/Thase/Grossberg/Lee y revisiones de Stahl. Referencias formativas.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agradecimiento. Abrir espacio a preguntas y discusión de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d65bfeec-100020675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74920"/>
            <a:ext cx="12188952" cy="1783080"/>
          </a:xfrm>
          <a:prstGeom prst="rect">
            <a:avLst/>
          </a:prstGeom>
          <a:solidFill>
            <a:srgbClr val="121736">
              <a:alpha val="8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de Actualización Farmacológica en Psiquiatría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559612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Ponente:  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—   Médico Psiquiatra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a profesionales médicos en Psiquiatría  ·  Agosto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de la sesión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417320"/>
            <a:ext cx="498348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43000" y="1417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43000" y="1792224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contexto clínico   ·   Historia y desarrollo   ·   Estructura y clasificación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58775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Farmacología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43000" y="2962656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de acción   ·   Farmacodinamia receptorial   ·   Farmacocinética (ADME)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803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43000" y="375818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Clínica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143000" y="4133088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y evidencia   ·   Posología y presentaciones   ·   Seguridad e interacciones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97433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43000" y="492861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143000" y="53035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terapéutico   ·   Perlas clínicas   ·   Conclusiones y referencias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el brexpiprazol?</a:t>
            </a:r>
            <a:endParaRPr lang="en-US" sz="3000" dirty="0"/>
          </a:p>
        </p:txBody>
      </p:sp>
      <p:pic>
        <p:nvPicPr>
          <p:cNvPr id="5" name="Image 0" descr="/root/.claude/uploads/66fba22f-583e-557b-9ab9-bf088b6d1210/6ddcd685-100020675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37160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Antipsicótico atípico de segunda generación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6080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Comercializado como Rexulti®; genérico: brexpiprazole.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la actividad serotonina-dopamina (SDAM): estabiliza la neurotransmisión en lugar de bloquearla por completo.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como sucesor de segunda generación del aripiprazol, con menor actividad intrínseca dopaminérgica.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diseño: eficacia antipsicótica con mejor tolerabilidad — menos acatisia, activación e inquietud.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oral, una vez al día, independiente de los alimentos.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 y desarrollo</a:t>
            </a:r>
            <a:endParaRPr lang="en-US" sz="3000" dirty="0"/>
          </a:p>
        </p:txBody>
      </p:sp>
      <p:pic>
        <p:nvPicPr>
          <p:cNvPr id="5" name="Image 0" descr="/root/.claude/uploads/66fba22f-583e-557b-9ab9-bf088b6d1210/3e754cf6-100020675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2920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897880" y="1463040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8076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18120" y="1572768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Otsuka Pharmaceutical en colaboración con H. Lundbeck A/S.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897880" y="2670048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2779776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 — FDA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18120" y="277977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 (10 jul 2015) para esquizofrenia y como adyuvante en depresión mayor.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897880" y="3877056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3986784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Expansión global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818120" y="3986784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 posteriores en Europa, Canadá y Latinoamérica.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897880" y="5084064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5193792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 — Hito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18120" y="519379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fármaco aprobado por la FDA para la agitación asociada a la demencia de Alzheimer.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y propiedades químicas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160520" cy="493776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3508162-100020675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691640"/>
            <a:ext cx="3520440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esquemática (ilustrativa)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983480" y="1600200"/>
            <a:ext cx="6720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químico: 7-[4-[4-(1-benzotiofen-4-il)piperazin-1-il]butoxi]quinolin-2(1H)-ona.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molecular: C25H27N3O2S.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molecular: ≈ 433,6 g/mol.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quinolinona unido, por una cadena butoxi, a una piperazina con anillo benzotiofeno.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benzotiofeno y la piperazina confieren alta afinidad por receptores D2 y 5-HT.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blanco a blanquecino, prácticamente insoluble en agua.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farmacológica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5b8ace72-100020675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0934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Antipsicótico atípico (segunda generación).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79806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Subclase funcional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actividad serotonina-dopamina (SDAM).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98678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ATC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N05AX16 — Otros antipsicóticos.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502920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517550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distintivo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Agonismo parcial D2/D3/5-HT1A + antagonismo 5-HT2A.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de acción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69080" cy="49834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a4977e1-100020676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81328"/>
            <a:ext cx="3703320" cy="4754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4630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de alta afinidad en receptores D2 y D3: normaliza el tono dopaminérgico — reduce la hiperactividad mesolímbica sin bloqueo excesivo.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5-HT1A: efecto ansiolítico, antidepresivo y procognitivo; favorece la tolerabilidad motora.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 potente 5-HT2A: mejora síntomas negativos y reduce el riesgo de síntomas extrapiramidales.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α1B y α2C adrenérgico: modula ánimo y respuesta de estrés.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actividad intrínseca en D2 que el aripiprazol → menos activación, acatisia e inquietud.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Farmacodinamia: el modelo de tres pilares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403a44db-100020676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25880"/>
            <a:ext cx="6126480" cy="5532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0" y="160020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74650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 / D3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75320" y="172821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 la dopamina: antipsicótico sin bloqueo total.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0" y="310896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0" y="325526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5-HT1A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75320" y="323697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Ansiolítico, antidepresivo y neuroprotector motor.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0" y="461772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0" y="476402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5-HT2A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75320" y="474573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Antagonismo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síntomas negativos y reduce el riesgo extrapiramidal.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de afinidad receptorial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737360"/>
            <a:ext cx="370332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7744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554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926080" y="1554480"/>
            <a:ext cx="173736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0" y="15544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 (nM)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27432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55448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121408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21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5-HT1A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926080" y="2121408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17520" y="2121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63440" y="2121408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54880" y="21214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26883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883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926080" y="2688336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17520" y="268833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663440" y="26883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6883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3255264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2552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2926080" y="3255264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017520" y="325526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663440" y="3255264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54880" y="32552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8640" y="38221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38221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5-HT2A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2926080" y="3822192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017520" y="382219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0,47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663440" y="38221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8221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48640" y="4389120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4389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α1B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926080" y="4389120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0" y="43891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663440" y="4389120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754880" y="43891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48640" y="495604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0080" y="49560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α2C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2926080" y="4956048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017520" y="49560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0,59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4663440" y="4956048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54880" y="49560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48640" y="58064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Ki aproximados; afinidad subnanomolar en los sitios clave. Menor Ki = mayor afinidad.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Farmacocinética (ADME)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Biodisponibilidad oral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4992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56432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Tmax plasmático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81344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&gt;99%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272784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Unión a proteínas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97696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97696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≈91 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89136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Semivida de eliminación</a:t>
            </a:r>
            <a:endParaRPr lang="en-US" sz="1200" dirty="0"/>
          </a:p>
        </p:txBody>
      </p:sp>
      <p:pic>
        <p:nvPicPr>
          <p:cNvPr id="17" name="Image 0" descr="/root/.claude/uploads/66fba22f-583e-557b-9ab9-bf088b6d1210/03076ebf-100020686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3246120"/>
            <a:ext cx="3566160" cy="30632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48640" y="3108960"/>
            <a:ext cx="7360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Absorción: buena por vía oral; sin efecto clínicamente relevante de los alimentos.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Distribución: amplia; unión a albúmina y α1-glicoproteína ácida &gt;99%.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Metabolismo: hepático por CYP3A4 y CYP2D6 → metabolito DM-3411 (sin contribución clínica relevante).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estacionario en 10–12 días; semivida larga que permite dosis única diaria.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Eliminación: heces ≈46%, orina ≈25%.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Indicaciones aprobadas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0" y="1371600"/>
            <a:ext cx="4023360" cy="4983480"/>
          </a:xfrm>
          <a:prstGeom prst="roundRect">
            <a:avLst>
              <a:gd name="adj" fmla="val 1136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8bdd1850-100020676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72768"/>
            <a:ext cx="3657600" cy="4572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71600" y="146304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Monoterapia en adultos; también estudiada para el mantenimiento a largo plazo.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081528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3035808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 (TDM)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adyuvante a antidepresivos en respuesta inadecuada.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4654296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465429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4608576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Alzheimer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 asociada a la demencia de Alzheimer (aprobación FDA 2023).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Esquizofrenia: evidencia clínica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0f42778-10002068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08760"/>
            <a:ext cx="7086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de fase 3 (p. ej. VECTOR y BEACON), doble ciego y controlados con placebo, a 6 semanas.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significativa de la puntuación total PANSS con 2–4 mg/día frente a placebo.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Mejoría también en la escala CGI-S de gravedad global.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de mantenimiento: prolongación significativa del tiempo hasta la recaída.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incidencia de acatisia y buen perfil de tolerabilidad a largo plazo.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mg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54864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eficaz/día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97180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sem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297180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9496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PANSS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39496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mayor: terapia adyuvante</a:t>
            </a:r>
            <a:endParaRPr lang="en-US" sz="3000" dirty="0"/>
          </a:p>
        </p:txBody>
      </p:sp>
      <p:pic>
        <p:nvPicPr>
          <p:cNvPr id="5" name="Image 0" descr="/root/.claude/uploads/66fba22f-583e-557b-9ab9-bf088b6d1210/b72ff5ad-100020675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489204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715000" y="1508760"/>
            <a:ext cx="5989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como complemento del antidepresivo cuando la respuesta es inadecuada.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(PYXIS/POLARIS): reducción significativa de la escala MADRS frente a antidepresivo + placebo.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habitual: 2 mg/día (rango 1–3 mg).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sobre síntomas depresivos residuales con inicio de acción en las primeras semanas.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Vigilar acatisia, aumento de peso y somnolencia como efectos más frecuentes en este contexto.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1500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+ADT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71500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Adyuvante, no monoterapia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3252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mg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73252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dosis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la demencia de Alzheimer</a:t>
            </a:r>
            <a:endParaRPr lang="en-US" sz="3000" dirty="0"/>
          </a:p>
        </p:txBody>
      </p:sp>
      <p:pic>
        <p:nvPicPr>
          <p:cNvPr id="5" name="Image 0" descr="/root/.claude/uploads/66fba22f-583e-557b-9ab9-bf088b6d1210/6ddcd685-100020675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417320"/>
            <a:ext cx="7086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y único fármaco con indicación aprobada por la FDA (2023) para esta condición.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011680"/>
            <a:ext cx="708660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ensayos de fase 3: reducción significativa del Cohen-Mansfield Agitation Inventory (CMAI).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de 2–3 mg/día tras titulación gradual.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 una necesidad no cubierta: la agitación es de las manifestaciones más angustiantes de la demencia.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9A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 la advertencia enmarcada de mayor mortalidad en ancianos con psicosis por demencia.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CMAI ↓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4864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2336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 mg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02336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diana/día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Brexpiprazol y los trastornos de la conducta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d425260d-100020700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08760"/>
            <a:ext cx="70866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trastornos de la conducta agrupan patrones persistentes de agresividad, impulsividad y transgresión de normas sociales.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paciente psiquiátrico y en la demencia se expresan como agitación, hostilidad y conducta disruptiva.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Racional SDAM: el equilibrio dopamina-serotonina (agonismo parcial D2/5-HT1A + antagonismo 5-HT2A) atenúa la impulsividad y la agresividad.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aprobada limitada a la agitación en la demencia de Alzheimer; otros usos conductuales son off-label y con evidencia emergente.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aprobado en el trastorno de conducta de niños y adolescentes; requiere valoración especializada.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5440680"/>
            <a:ext cx="7086600" cy="868680"/>
          </a:xfrm>
          <a:prstGeom prst="roundRect">
            <a:avLst>
              <a:gd name="adj" fmla="val 842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586984"/>
            <a:ext cx="6684264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Principio de uso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como complemento de las intervenciones psicosociales de primera línea, iniciando a dosis bajas y con monitorización estrecha.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Posología y administración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c29a529-100020676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463040"/>
            <a:ext cx="3931920" cy="3749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31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Indicación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880360" y="1554480"/>
            <a:ext cx="178308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53512" y="1554480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14173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36592" y="1554480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80760" y="1554480"/>
            <a:ext cx="1188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53912" y="1554480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Máx.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2176272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2176272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Esquizofrenia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880360" y="2176272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176272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mg (días 1–4)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663440" y="2176272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36592" y="2176272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mg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080760" y="2176272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53912" y="2176272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mg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2798064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2798064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 (adyuvante)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880360" y="2798064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2798064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0,5–1 mg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663440" y="2798064"/>
            <a:ext cx="1417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36592" y="2798064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mg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080760" y="2798064"/>
            <a:ext cx="1188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53912" y="2798064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419856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419856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Agitación/Alzheimer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2880360" y="3419856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3419856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mg (1.ª sem.)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4663440" y="3419856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36592" y="3419856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mg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080760" y="3419856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153912" y="3419856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48640" y="4251960"/>
            <a:ext cx="6949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toma diaria, con o sin alimentos; titulación gradual para minimizar la acatisia.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Comprimidos: 0,25 · 0,5 · 1 · 2 · 3 · 4 mg.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dosis en insuficiencia hepática o renal moderada-grave.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Titulación e individualización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c748f5c-10002067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463040"/>
            <a:ext cx="493776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54480"/>
            <a:ext cx="5989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Amplio abanico de concentraciones (0,25–4 mg) que facilita una titulación fina y personalizada.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despacio reduce la incidencia de acatisia e inquietud al inicio del tratamiento.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por farmacogenética: en metabolizadores lentos del CYP2D6, reducir la dosis a la mitad.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inhibidores potentes de CYP3A4 o CYP2D6, reducir la dosis; con inductores de CYP3A4, aumentarla.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favorece la adherencia y amortigua el impacto de una toma olvidada.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Reacciones adversas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8ac2a16-100020675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08760"/>
            <a:ext cx="3840480" cy="32918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55064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peso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Frecuente; vigilar parámetros metabólicos.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587752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Acatisia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Dosis-dependiente; menor que con aripiprazol.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3374136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520440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Somnolencia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 al inicio; suele atenuarse.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4306824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4453128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Cefalea / nasofaringitis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Leves y transitorias.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863840" y="4983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metabólico y cardiovascular</a:t>
            </a:r>
            <a:endParaRPr lang="en-US" sz="1350" dirty="0"/>
          </a:p>
          <a:p>
            <a:pPr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moderado sobre peso y lípidos; elevación discreta de prolactina; impacto mínimo sobre el intervalo QTc. Menor activación/insomnio que el aripiprazol.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Advertencias y contraindicaciones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b72ff5ad-100020675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371600"/>
            <a:ext cx="4187952" cy="5486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7178040" cy="1234440"/>
          </a:xfrm>
          <a:prstGeom prst="roundRect">
            <a:avLst>
              <a:gd name="adj" fmla="val 5185"/>
            </a:avLst>
          </a:prstGeom>
          <a:solidFill>
            <a:srgbClr val="5A1712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536192"/>
            <a:ext cx="6720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 ENMARCADA (BOXED WARNING)</a:t>
            </a:r>
            <a:endParaRPr lang="en-US" sz="135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mortalidad en ancianos con psicosis por demencia. Riesgo de ideación/conducta suicida en jóvenes tratados con antidepresivos.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2880360"/>
            <a:ext cx="7178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Síndrome neuroléptico maligno y discinesia tardía.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Alteraciones metabólicas: hiperglucemia, dislipidemia, aumento de peso.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Hipotensión ortostática, leucopenia/neutropenia, convulsiones y disfagia.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Trastornos del control de impulsos (p. ej. ludopatía) y disregulación térmica.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Contraindicado ante hipersensibilidad conocida al brexpiprazol.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y poblaciones especiales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farmacológicas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Inhibidores CYP3A4/CYP2D6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(a la mitad con inhibidores potentes).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Inductores de CYP3A4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la dosis (hasta duplicarla).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Metabolizadores lentos 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por mayor exposición.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Poblaciones especiales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Hepática/renal moderada-grave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y reducir la dosis máxima.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Embarazo y lactancia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Valorar riesgo-beneficio; datos limitados.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Ancianos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bajo y titular con precaución.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Posicionamiento: brexpiprazol vs aripiprazol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18debf7-100020676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554480"/>
            <a:ext cx="3931920" cy="33375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6060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15468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2783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Brexpiprazol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0352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7667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Aripiprazol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157984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2157984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intrínseca D2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15468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783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30352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7667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2761488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2761488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Acatisia / activación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15468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2783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30352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7667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3364992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3364992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5-HT2A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15468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2783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potente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30352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7667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968496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968496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Somnolencia / peso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315468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2783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mayor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30352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37667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48640" y="507492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clave:  </a:t>
            </a:r>
            <a:pPr indent="0" marL="0">
              <a:buNone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menor actividad intrínseca D2 hace del brexpiprazol una opción con perfil de tolerabilidad motora más favorable, útil en pacientes sensibles a la acatisia o la activación.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Perlas clínicas para la práctica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ac2a47e1-100020700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88720" y="1463040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siempre de forma gradual: es la mejor estrategia frente a la acatisia inicial.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2395728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 peso, glucemia y lípidos al inicio y periódicamente.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3374136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3741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188720" y="3328416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el perfil farmacogenético/interacciones (CYP2D6 y CYP3A4) antes de fijar la dosis.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48640" y="430682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43068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4261104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aporta estabilidad plasmática y tolera bien los olvidos ocasionales.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48640" y="5239512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5239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agitación por demencia, individualizar y reevaluar el balance beneficio-riesgo.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36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5280" y="0"/>
            <a:ext cx="4233672" cy="6858000"/>
          </a:xfrm>
          <a:prstGeom prst="rect">
            <a:avLst/>
          </a:prstGeom>
          <a:solidFill>
            <a:srgbClr val="121736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6400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16916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brexpiprazol es un antipsicótico atípico de nueva generación (SDAM) que estabiliza los sistemas dopaminérgico y serotoninérgico.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menor actividad intrínseca D2 se traduce en eficacia antipsicótica con menor acatisia y activación.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con evidencia sólida en esquizofrenia, como adyuvante en depresión mayor y, desde 2023, en la agitación por Alzheimer.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seguridad manejable con titulación gradual y monitorización metabólica adecuada.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valiosa cuando se selecciona e individualiza correctamente al paciente.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bibliográficas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Otsuka America Pharmaceutical. Rexulti® (brexpiprazol): Información de prescripción (Prescribing Information). 2023.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Maeda K, et al. Brexpiprazole I: In vitro and in vivo characterization of a novel serotonin-dopamine activity modulator. J Pharmacol Exp Ther. 2014;350(3):589–604.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Citrome L. Brexpiprazole: a new dopamine–serotonin system stabilizer. Int J Clin Pract. 2015;69(9):978–997.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Correll CU, et al. Efficacy and safety of brexpiprazole for the treatment of schizophrenia. Am J Psychiatry. 2015;172(9):870–880.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Kane JM, et al. A multicenter, randomized, double-blind trial of brexpiprazole in schizophrenia. Schizophr Res. 2015;164(1–3):127–135.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5508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Thase ME, et al. Adjunctive brexpiprazole in major depressive disorder (PYXIS/POLARIS). J Clin Psychiatry. 2015;76(9):1224–1231.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Grossberg GT, et al. Brexpiprazole for agitation associated with Alzheimer's dementia: phase 3 trial. Am J Geriatr Psychiatry. 2020;28(4):383–400.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Lee D, et al. Brexpiprazole for the treatment of agitation in Alzheimer dementia. JAMA Neurol. 2023;80(12):1307–1316.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Stahl SM. Mechanism of action of brexpiprazole: comparison with aripiprazole. CNS Spectr. 2016;21(1):1–6.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U.S. FDA. Approval of Rexulti for agitation associated with dementia due to Alzheimer's disease. 2023.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736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 por su atención!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discusión clínica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480560" y="4206240"/>
            <a:ext cx="3227832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4348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 Psiquiatra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2026-08-06T19:03:27Z</dcterms:created>
  <dcterms:modified xsi:type="dcterms:W3CDTF">2026-08-06T19:03:27Z</dcterms:modified>
</cp:coreProperties>
</file>